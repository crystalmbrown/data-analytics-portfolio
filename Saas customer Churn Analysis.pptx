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57" r:id="rId3"/>
    <p:sldId id="261" r:id="rId4"/>
    <p:sldId id="258" r:id="rId5"/>
    <p:sldId id="260" r:id="rId6"/>
    <p:sldId id="259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3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690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316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953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33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250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415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998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063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12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2369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875517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0585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2425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1492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4523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789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F2AB29-1DB0-4B3D-B243-A34A34D1ECC8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055AF7-B042-4E5F-8801-25E21C575A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2956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rystalMBrown/Data-Analytics-Portfolio/blob/main/SaaS%20Business%20Metrics%3A%20SQL" TargetMode="Externa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BDF4E-D909-41CB-596F-80FABB7DCF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3082" y="1122363"/>
            <a:ext cx="11725835" cy="2387600"/>
          </a:xfrm>
        </p:spPr>
        <p:txBody>
          <a:bodyPr anchor="ctr"/>
          <a:lstStyle/>
          <a:p>
            <a:r>
              <a:rPr lang="en-US" dirty="0" err="1">
                <a:solidFill>
                  <a:schemeClr val="accent6"/>
                </a:solidFill>
              </a:rPr>
              <a:t>Saas</a:t>
            </a:r>
            <a:r>
              <a:rPr lang="en-US" dirty="0">
                <a:solidFill>
                  <a:schemeClr val="accent6"/>
                </a:solidFill>
              </a:rPr>
              <a:t> customer</a:t>
            </a:r>
            <a:br>
              <a:rPr lang="en-US" dirty="0">
                <a:solidFill>
                  <a:schemeClr val="accent6"/>
                </a:solidFill>
              </a:rPr>
            </a:br>
            <a:r>
              <a:rPr lang="en-US" dirty="0">
                <a:solidFill>
                  <a:schemeClr val="accent6"/>
                </a:solidFill>
              </a:rPr>
              <a:t>Churn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043B1F-97AD-EAAF-DE05-E71A372A1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95268" y="3429000"/>
            <a:ext cx="9001462" cy="1655762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What’s driving customer loss and what to do about it.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2A7EFC-045A-0690-43A8-88C9CB60E57B}"/>
              </a:ext>
            </a:extLst>
          </p:cNvPr>
          <p:cNvSpPr txBox="1"/>
          <p:nvPr/>
        </p:nvSpPr>
        <p:spPr>
          <a:xfrm>
            <a:off x="5263143" y="4438431"/>
            <a:ext cx="1665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Crystal Brown</a:t>
            </a:r>
          </a:p>
          <a:p>
            <a:pPr algn="ctr"/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2412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B7D55-C047-590F-F3E1-E5225C12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1" cy="1326321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The Situation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BD90-5FBE-98E0-27B8-60645D711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6321"/>
            <a:ext cx="10515600" cy="4399921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400" dirty="0"/>
              <a:t>A SaaS company asked: Who is churning, When, and Why?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Analyzed 1,000 customer records from Jan 2024 to Jun 2025.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Three plan types investigated: Basic, Enterprise, and Pro.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Examined acquisition cost, plan type, and tenure as potential churn predictors.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Dataset: SaaS Business Metrics - Customers, Plans, and Revenue (Kaggle).</a:t>
            </a:r>
          </a:p>
        </p:txBody>
      </p:sp>
    </p:spTree>
    <p:extLst>
      <p:ext uri="{BB962C8B-B14F-4D97-AF65-F5344CB8AC3E}">
        <p14:creationId xmlns:p14="http://schemas.microsoft.com/office/powerpoint/2010/main" val="3232880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EB8FF-64A1-BACE-01A9-6936F42E3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3" y="-107576"/>
            <a:ext cx="10353761" cy="1326321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What We Found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B5E98-8BED-78FC-6275-13E4F52995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153" y="1988673"/>
            <a:ext cx="11321411" cy="369513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The data shows 2 spikes at the end of the dataset, one suddenly in March 2025 where churn </a:t>
            </a:r>
            <a:r>
              <a:rPr lang="en-US" sz="2400" i="1" dirty="0"/>
              <a:t>tripled</a:t>
            </a:r>
            <a:r>
              <a:rPr lang="en-US" sz="2400" dirty="0"/>
              <a:t> and never recovered, then another spike in June 2025.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Plan type does not predict churn. Rates nearly identical: Basic 17.7%, Enterprise 17.3%, Pro 15.4%.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Acquisition Cost does not predict churn. Less than a $0.50 difference between active and churned customers.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Churn was stable throughout 2024 averaging 1-8 customers per month.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9F26BE-2335-FE93-2A5E-89838D38A47A}"/>
              </a:ext>
            </a:extLst>
          </p:cNvPr>
          <p:cNvSpPr txBox="1"/>
          <p:nvPr/>
        </p:nvSpPr>
        <p:spPr>
          <a:xfrm>
            <a:off x="431318" y="787858"/>
            <a:ext cx="11151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Something Changed in March 2025 and the data point directly to it.</a:t>
            </a:r>
          </a:p>
        </p:txBody>
      </p:sp>
    </p:spTree>
    <p:extLst>
      <p:ext uri="{BB962C8B-B14F-4D97-AF65-F5344CB8AC3E}">
        <p14:creationId xmlns:p14="http://schemas.microsoft.com/office/powerpoint/2010/main" val="860055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C0344-D3CD-AF4D-BDB4-DAB09188D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1" cy="1326321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The Evidence</a:t>
            </a:r>
          </a:p>
        </p:txBody>
      </p:sp>
      <p:pic>
        <p:nvPicPr>
          <p:cNvPr id="5" name="Picture 4" descr="A graph with numbers and a bar&#10;&#10;AI-generated content may be incorrect.">
            <a:extLst>
              <a:ext uri="{FF2B5EF4-FFF2-40B4-BE49-F238E27FC236}">
                <a16:creationId xmlns:a16="http://schemas.microsoft.com/office/drawing/2014/main" id="{28024063-1282-3AB2-D7C4-30F65B0223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040"/>
          <a:stretch/>
        </p:blipFill>
        <p:spPr>
          <a:xfrm>
            <a:off x="400381" y="1326321"/>
            <a:ext cx="3643743" cy="4869478"/>
          </a:xfrm>
          <a:prstGeom prst="rect">
            <a:avLst/>
          </a:prstGeom>
        </p:spPr>
      </p:pic>
      <p:pic>
        <p:nvPicPr>
          <p:cNvPr id="17" name="Picture 16" descr="A graph of a bar chart&#10;&#10;AI-generated content may be incorrect.">
            <a:extLst>
              <a:ext uri="{FF2B5EF4-FFF2-40B4-BE49-F238E27FC236}">
                <a16:creationId xmlns:a16="http://schemas.microsoft.com/office/drawing/2014/main" id="{76E4840B-6DDE-2E0E-2CFD-244224E0AB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6617" y="1326321"/>
            <a:ext cx="1341739" cy="4869478"/>
          </a:xfrm>
          <a:prstGeom prst="rect">
            <a:avLst/>
          </a:prstGeom>
        </p:spPr>
      </p:pic>
      <p:pic>
        <p:nvPicPr>
          <p:cNvPr id="4" name="Picture 3" descr="A graph of a number of orange bars&#10;&#10;AI-generated content may be incorrect.">
            <a:extLst>
              <a:ext uri="{FF2B5EF4-FFF2-40B4-BE49-F238E27FC236}">
                <a16:creationId xmlns:a16="http://schemas.microsoft.com/office/drawing/2014/main" id="{A7547A49-6C9F-413F-5958-27B01CF689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849" y="1326321"/>
            <a:ext cx="6020770" cy="4869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023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C9B75-1E69-695E-1E0C-8F4ED5B17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6" y="0"/>
            <a:ext cx="10353761" cy="1326321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What This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C509B-7E45-0509-5D1F-C23FC88B83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326321"/>
            <a:ext cx="10353762" cy="406319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This is not a customer profile problem, it’s a timing event issue and requires investigation.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Adjusting pricing or targeting different plan types will not fix this.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Changing the acquisition strategy will not fix this.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Something changed in or around March 2025 causing a shift in retention.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Until the root cause is identified any retention intervention is guess work.</a:t>
            </a:r>
          </a:p>
        </p:txBody>
      </p:sp>
    </p:spTree>
    <p:extLst>
      <p:ext uri="{BB962C8B-B14F-4D97-AF65-F5344CB8AC3E}">
        <p14:creationId xmlns:p14="http://schemas.microsoft.com/office/powerpoint/2010/main" val="179072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B1934-C605-1915-FC1A-FCD25F2A8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2258" y="16708"/>
            <a:ext cx="5176881" cy="1326321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B75B7-673D-44AE-9D28-9D72C9267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817" y="1020299"/>
            <a:ext cx="10353762" cy="3695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8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Investigate March - June 2025</a:t>
            </a:r>
          </a:p>
          <a:p>
            <a:pPr lvl="1">
              <a:lnSpc>
                <a:spcPct val="100000"/>
              </a:lnSpc>
              <a:buFontTx/>
              <a:buChar char="-"/>
            </a:pPr>
            <a:r>
              <a:rPr lang="en-US" sz="2400" dirty="0"/>
              <a:t>Cross reference marketing campaigns, support tickets, and development changelog.</a:t>
            </a:r>
          </a:p>
          <a:p>
            <a:pPr marL="233363" lvl="1">
              <a:lnSpc>
                <a:spcPct val="150000"/>
              </a:lnSpc>
            </a:pPr>
            <a:r>
              <a:rPr lang="en-US" sz="28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Extend The Dataset To Present Day</a:t>
            </a:r>
          </a:p>
          <a:p>
            <a:pPr marL="747713" lvl="2" indent="-285750">
              <a:lnSpc>
                <a:spcPct val="100000"/>
              </a:lnSpc>
              <a:buFontTx/>
              <a:buChar char="-"/>
            </a:pPr>
            <a:r>
              <a:rPr lang="en-US" sz="2400" dirty="0"/>
              <a:t>Confirm if churn is still elevated or has been resolved.</a:t>
            </a:r>
          </a:p>
          <a:p>
            <a:pPr marL="233363" lvl="2" indent="-233363">
              <a:lnSpc>
                <a:spcPct val="150000"/>
              </a:lnSpc>
            </a:pPr>
            <a:r>
              <a:rPr lang="en-US" sz="28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Month 4 Proactive Outreach</a:t>
            </a:r>
          </a:p>
          <a:p>
            <a:pPr marL="742950" lvl="3" indent="-285750">
              <a:lnSpc>
                <a:spcPct val="100000"/>
              </a:lnSpc>
              <a:buFontTx/>
              <a:buChar char="-"/>
            </a:pPr>
            <a:r>
              <a:rPr lang="en-US" sz="2400" dirty="0"/>
              <a:t>Customer Success check-in before customers reach the churn window.</a:t>
            </a:r>
          </a:p>
          <a:p>
            <a:pPr marL="233363" lvl="3" indent="-233363">
              <a:lnSpc>
                <a:spcPct val="150000"/>
              </a:lnSpc>
            </a:pPr>
            <a:r>
              <a:rPr lang="en-US" sz="28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One Question Exit Survey</a:t>
            </a:r>
          </a:p>
          <a:p>
            <a:pPr marL="800100" lvl="4" indent="-342900">
              <a:lnSpc>
                <a:spcPct val="100000"/>
              </a:lnSpc>
              <a:buFontTx/>
              <a:buChar char="-"/>
            </a:pPr>
            <a:r>
              <a:rPr lang="en-US" sz="2400" dirty="0"/>
              <a:t>Direct evidence from churned customers that data analysis can’t replace.</a:t>
            </a:r>
          </a:p>
        </p:txBody>
      </p:sp>
    </p:spTree>
    <p:extLst>
      <p:ext uri="{BB962C8B-B14F-4D97-AF65-F5344CB8AC3E}">
        <p14:creationId xmlns:p14="http://schemas.microsoft.com/office/powerpoint/2010/main" val="1048582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68343-1D81-93FA-9627-4B450BCD7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0"/>
            <a:ext cx="10353762" cy="1325563"/>
          </a:xfrm>
        </p:spPr>
        <p:txBody>
          <a:bodyPr/>
          <a:lstStyle/>
          <a:p>
            <a:r>
              <a:rPr lang="en-US" dirty="0">
                <a:solidFill>
                  <a:schemeClr val="accent6"/>
                </a:solidFill>
              </a:rPr>
              <a:t>Appendix - Methodology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58C04B-5744-7529-2ABF-69C046E92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343" y="1523510"/>
            <a:ext cx="3298956" cy="823305"/>
          </a:xfrm>
        </p:spPr>
        <p:txBody>
          <a:bodyPr/>
          <a:lstStyle/>
          <a:p>
            <a:r>
              <a:rPr lang="en-US" sz="3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 Source: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EFCBDA-3BCB-C74E-17F1-6CD68FB95575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278387" y="2448988"/>
            <a:ext cx="3674868" cy="925270"/>
          </a:xfrm>
        </p:spPr>
        <p:txBody>
          <a:bodyPr>
            <a:noAutofit/>
          </a:bodyPr>
          <a:lstStyle/>
          <a:p>
            <a:pPr marL="342900" indent="-342900" algn="l">
              <a:buFontTx/>
              <a:buChar char="-"/>
            </a:pPr>
            <a:r>
              <a:rPr lang="en-US" sz="2400" dirty="0"/>
              <a:t>SaaS Business Metrics  Customers, Plans, and Revenue</a:t>
            </a:r>
          </a:p>
          <a:p>
            <a:pPr marL="342900" indent="-342900" algn="l">
              <a:buFontTx/>
              <a:buChar char="-"/>
            </a:pPr>
            <a:r>
              <a:rPr lang="en-US" sz="2400" dirty="0"/>
              <a:t> Kaggle</a:t>
            </a:r>
          </a:p>
          <a:p>
            <a:pPr marL="342900" indent="-342900" algn="l">
              <a:buFontTx/>
              <a:buChar char="-"/>
            </a:pPr>
            <a:r>
              <a:rPr lang="en-US" sz="2400" dirty="0"/>
              <a:t>1,000 records.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4BC46F-2B8B-F4C3-99BD-63B5D87105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41396" y="1451826"/>
            <a:ext cx="3298558" cy="823304"/>
          </a:xfrm>
        </p:spPr>
        <p:txBody>
          <a:bodyPr/>
          <a:lstStyle/>
          <a:p>
            <a:r>
              <a:rPr lang="en-US" sz="3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Tools: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DA0E88-F71D-9037-EF8E-FCDF523140AF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4441396" y="2448989"/>
            <a:ext cx="3299821" cy="2879576"/>
          </a:xfrm>
        </p:spPr>
        <p:txBody>
          <a:bodyPr>
            <a:normAutofit/>
          </a:bodyPr>
          <a:lstStyle/>
          <a:p>
            <a:pPr marL="342900" indent="-342900" algn="l">
              <a:buFontTx/>
              <a:buChar char="-"/>
            </a:pPr>
            <a:r>
              <a:rPr lang="en-US" sz="2400" dirty="0"/>
              <a:t>SQL (</a:t>
            </a:r>
            <a:r>
              <a:rPr lang="en-US" sz="2400" dirty="0" err="1"/>
              <a:t>SQLiteOnline</a:t>
            </a:r>
            <a:r>
              <a:rPr lang="en-US" sz="2400" dirty="0"/>
              <a:t>)</a:t>
            </a:r>
          </a:p>
          <a:p>
            <a:pPr marL="342900" indent="-342900" algn="l">
              <a:buFontTx/>
              <a:buChar char="-"/>
            </a:pPr>
            <a:r>
              <a:rPr lang="en-US" sz="2400" dirty="0"/>
              <a:t>Excel</a:t>
            </a:r>
          </a:p>
          <a:p>
            <a:pPr marL="342900" indent="-342900" algn="l">
              <a:buFontTx/>
              <a:buChar char="-"/>
            </a:pPr>
            <a:r>
              <a:rPr lang="en-US" sz="2400" dirty="0"/>
              <a:t>Tableau Public</a:t>
            </a:r>
          </a:p>
          <a:p>
            <a:pPr marL="342900" indent="-342900" algn="l">
              <a:buFontTx/>
              <a:buChar char="-"/>
            </a:pPr>
            <a:r>
              <a:rPr lang="en-US" sz="2400" dirty="0"/>
              <a:t>PowerPoint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4F41301-3798-7E7D-DD1E-434EBFB757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06948" y="1451826"/>
            <a:ext cx="3291211" cy="823304"/>
          </a:xfrm>
        </p:spPr>
        <p:txBody>
          <a:bodyPr/>
          <a:lstStyle/>
          <a:p>
            <a:r>
              <a:rPr lang="en-US" sz="3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Alterations: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2F0BF1-B2B3-2FDF-CE65-F7C673124575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7739954" y="2346815"/>
            <a:ext cx="4452046" cy="4160315"/>
          </a:xfrm>
        </p:spPr>
        <p:txBody>
          <a:bodyPr>
            <a:normAutofit fontScale="32500" lnSpcReduction="20000"/>
          </a:bodyPr>
          <a:lstStyle/>
          <a:p>
            <a:pPr marL="285750" indent="-285750" algn="l">
              <a:buFontTx/>
              <a:buChar char="-"/>
            </a:pPr>
            <a:r>
              <a:rPr lang="en-US" sz="7400" dirty="0"/>
              <a:t>Columns removed: Amount (duplicate of </a:t>
            </a:r>
            <a:r>
              <a:rPr lang="en-US" sz="7400" dirty="0" err="1"/>
              <a:t>monthly_fee</a:t>
            </a:r>
            <a:r>
              <a:rPr lang="en-US" sz="7400" dirty="0"/>
              <a:t>), Subscription sheet (no new information).</a:t>
            </a:r>
          </a:p>
          <a:p>
            <a:pPr marL="285750" indent="-285750" algn="l">
              <a:buFontTx/>
              <a:buChar char="-"/>
            </a:pPr>
            <a:r>
              <a:rPr lang="en-US" sz="7400" dirty="0"/>
              <a:t>Joined files: Customers and Revenue using XLOOKUP on </a:t>
            </a:r>
            <a:r>
              <a:rPr lang="en-US" sz="7400" dirty="0" err="1"/>
              <a:t>customer_id</a:t>
            </a:r>
            <a:r>
              <a:rPr lang="en-US" sz="7400" dirty="0"/>
              <a:t>.</a:t>
            </a:r>
          </a:p>
          <a:p>
            <a:pPr marL="285750" indent="-285750" algn="l">
              <a:buFontTx/>
              <a:buChar char="-"/>
            </a:pPr>
            <a:r>
              <a:rPr lang="en-US" sz="7400" dirty="0"/>
              <a:t>Calculated active customer tenure as of 06/30/2025 to avoid data staleness.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0DA901-BC36-122A-BB2B-24BE37DD222D}"/>
              </a:ext>
            </a:extLst>
          </p:cNvPr>
          <p:cNvSpPr txBox="1"/>
          <p:nvPr/>
        </p:nvSpPr>
        <p:spPr>
          <a:xfrm>
            <a:off x="4106029" y="1043161"/>
            <a:ext cx="396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All SQL queries available on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  <a:hlinkClick r:id="rId2"/>
              </a:rPr>
              <a:t>Github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062869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339</TotalTime>
  <Words>398</Words>
  <Application>Microsoft Office PowerPoint</Application>
  <PresentationFormat>Widescreen</PresentationFormat>
  <Paragraphs>47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Bookman Old Style</vt:lpstr>
      <vt:lpstr>Rockwell</vt:lpstr>
      <vt:lpstr>Damask</vt:lpstr>
      <vt:lpstr>Saas customer Churn Analysis</vt:lpstr>
      <vt:lpstr>The Situation</vt:lpstr>
      <vt:lpstr>What We Found</vt:lpstr>
      <vt:lpstr>The Evidence</vt:lpstr>
      <vt:lpstr>What This Means</vt:lpstr>
      <vt:lpstr>Recommendations</vt:lpstr>
      <vt:lpstr>Appendix - Methodology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Public</dc:creator>
  <cp:lastModifiedBy>Public</cp:lastModifiedBy>
  <cp:revision>5</cp:revision>
  <dcterms:created xsi:type="dcterms:W3CDTF">2026-03-28T20:26:22Z</dcterms:created>
  <dcterms:modified xsi:type="dcterms:W3CDTF">2026-03-31T22:48:54Z</dcterms:modified>
</cp:coreProperties>
</file>