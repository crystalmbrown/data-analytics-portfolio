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9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1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5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3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5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1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9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6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1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36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7551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58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42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52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8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2AB29-1DB0-4B3D-B243-A34A34D1EC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55AF7-B042-4E5F-8801-25E21C575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95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rystalMBrown/Data-Analytics-Portfolio/blob/main/SaaS%20Business%20Metrics%3A%20SQL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DF4E-D909-41CB-596F-80FABB7DC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82" y="1122363"/>
            <a:ext cx="11725835" cy="2387600"/>
          </a:xfrm>
        </p:spPr>
        <p:txBody>
          <a:bodyPr anchor="ctr"/>
          <a:lstStyle/>
          <a:p>
            <a:r>
              <a:rPr lang="en-US" dirty="0" err="1">
                <a:solidFill>
                  <a:schemeClr val="accent6"/>
                </a:solidFill>
              </a:rPr>
              <a:t>Saas</a:t>
            </a:r>
            <a:r>
              <a:rPr lang="en-US" dirty="0">
                <a:solidFill>
                  <a:schemeClr val="accent6"/>
                </a:solidFill>
              </a:rPr>
              <a:t> customer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43B1F-97AD-EAAF-DE05-E71A372A1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8" y="3429000"/>
            <a:ext cx="9001462" cy="16557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What’s driving customer loss and what to do about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A7EFC-045A-0690-43A8-88C9CB60E57B}"/>
              </a:ext>
            </a:extLst>
          </p:cNvPr>
          <p:cNvSpPr txBox="1"/>
          <p:nvPr/>
        </p:nvSpPr>
        <p:spPr>
          <a:xfrm>
            <a:off x="5263143" y="4438431"/>
            <a:ext cx="1665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Crystal Brown</a:t>
            </a:r>
          </a:p>
          <a:p>
            <a:pPr algn="ctr"/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412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7D55-C047-590F-F3E1-E5225C12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The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BD90-5FBE-98E0-27B8-60645D711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249" y="1526242"/>
            <a:ext cx="11449499" cy="38055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 SaaS company asked: Who is churning, When, and Why?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Analyzed 1,000 customer records from Jan 2024 to Jun 2025.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Three plan types investigated: Basic, Enterprise, and Pro.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Examined acquisition cost, plan type, and tenure as potential churn </a:t>
            </a:r>
            <a:r>
              <a:rPr lang="en-US" sz="2400"/>
              <a:t>predictors.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288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B8FF-64A1-BACE-01A9-6936F42E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3" y="-107576"/>
            <a:ext cx="10353761" cy="132632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What We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B5E98-8BED-78FC-6275-13E4F5299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967" y="2250283"/>
            <a:ext cx="11321411" cy="36951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Churn </a:t>
            </a:r>
            <a:r>
              <a:rPr lang="en-US" sz="2400" i="1" dirty="0"/>
              <a:t>tripled</a:t>
            </a:r>
            <a:r>
              <a:rPr lang="en-US" sz="2400" dirty="0"/>
              <a:t> in March 2025 and never recovered, spiking again in June 2025.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Plan type does not predict churn. Rates nearly identical: Basic 17.7%, Enterprise 17.3%, Pro 15.4%.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Acquisition Cost does not predict churn. Less than a $0.50 difference between active and churned customers.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Churn was stable throughout 2024 averaging 1-8 customers per month.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F26BE-2335-FE93-2A5E-89838D38A47A}"/>
              </a:ext>
            </a:extLst>
          </p:cNvPr>
          <p:cNvSpPr txBox="1"/>
          <p:nvPr/>
        </p:nvSpPr>
        <p:spPr>
          <a:xfrm>
            <a:off x="472550" y="912581"/>
            <a:ext cx="11236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Something Changed in March 2025 and the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points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directly to it.</a:t>
            </a:r>
          </a:p>
        </p:txBody>
      </p:sp>
    </p:spTree>
    <p:extLst>
      <p:ext uri="{BB962C8B-B14F-4D97-AF65-F5344CB8AC3E}">
        <p14:creationId xmlns:p14="http://schemas.microsoft.com/office/powerpoint/2010/main" val="86005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0344-D3CD-AF4D-BDB4-DAB09188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The Evidence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9FC17951-304E-6143-8F12-EF45A50E6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9" y="1175365"/>
            <a:ext cx="8128000" cy="54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2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9B75-1E69-695E-1E0C-8F4ED5B1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132632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What This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C509B-7E45-0509-5D1F-C23FC88B8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35" y="1935706"/>
            <a:ext cx="10760482" cy="40631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This is not a customer profile problem, it’s a timing event issue and requires investigation.</a:t>
            </a:r>
          </a:p>
          <a:p>
            <a:pPr>
              <a:lnSpc>
                <a:spcPct val="150000"/>
              </a:lnSpc>
            </a:pPr>
            <a:r>
              <a:rPr lang="en-US" sz="2400"/>
              <a:t>Adjusting pricing, plan targeting, or acquisition strategy will not fix this.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Something changed in or around March 2025 causing a shift in retention.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Until the root cause is identified any retention intervention is guess work.</a:t>
            </a:r>
          </a:p>
        </p:txBody>
      </p:sp>
    </p:spTree>
    <p:extLst>
      <p:ext uri="{BB962C8B-B14F-4D97-AF65-F5344CB8AC3E}">
        <p14:creationId xmlns:p14="http://schemas.microsoft.com/office/powerpoint/2010/main" val="179072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1934-C605-1915-FC1A-FCD25F2A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258" y="16708"/>
            <a:ext cx="5176881" cy="132632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B75B7-673D-44AE-9D28-9D72C926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98" y="1343029"/>
            <a:ext cx="10961599" cy="3695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Investigate March - June 2025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US" sz="2400" dirty="0"/>
              <a:t>Cross reference marketing campaigns, support tickets, and development changelog.</a:t>
            </a:r>
          </a:p>
          <a:p>
            <a:pPr marL="233363" lvl="1"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Extend The Dataset To Present Day</a:t>
            </a:r>
          </a:p>
          <a:p>
            <a:pPr marL="747713" lvl="2" indent="-285750">
              <a:lnSpc>
                <a:spcPct val="100000"/>
              </a:lnSpc>
              <a:buFontTx/>
              <a:buChar char="-"/>
            </a:pPr>
            <a:r>
              <a:rPr lang="en-US" sz="2400" dirty="0"/>
              <a:t>Confirm if churn is still elevated or has been resolved.</a:t>
            </a:r>
          </a:p>
          <a:p>
            <a:pPr marL="233363" lvl="2" indent="-233363"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Month 4 Proactive Outreach</a:t>
            </a:r>
          </a:p>
          <a:p>
            <a:pPr marL="742950" lvl="3" indent="-285750">
              <a:lnSpc>
                <a:spcPct val="100000"/>
              </a:lnSpc>
              <a:buFontTx/>
              <a:buChar char="-"/>
            </a:pPr>
            <a:r>
              <a:rPr lang="en-US" sz="2400" dirty="0"/>
              <a:t>Customer Success check-in before customers reach the churn window.</a:t>
            </a:r>
          </a:p>
          <a:p>
            <a:pPr marL="233363" lvl="3" indent="-233363">
              <a:lnSpc>
                <a:spcPct val="150000"/>
              </a:lnSpc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Question Exit Survey</a:t>
            </a:r>
          </a:p>
          <a:p>
            <a:pPr marL="800100" lvl="4" indent="-342900">
              <a:lnSpc>
                <a:spcPct val="100000"/>
              </a:lnSpc>
              <a:buFontTx/>
              <a:buChar char="-"/>
            </a:pPr>
            <a:r>
              <a:rPr lang="en-US" sz="2400"/>
              <a:t>Direct evidence that no internal data </a:t>
            </a:r>
            <a:r>
              <a:rPr lang="en-US" sz="2400" dirty="0"/>
              <a:t>analysis can’t replace.</a:t>
            </a:r>
          </a:p>
        </p:txBody>
      </p:sp>
    </p:spTree>
    <p:extLst>
      <p:ext uri="{BB962C8B-B14F-4D97-AF65-F5344CB8AC3E}">
        <p14:creationId xmlns:p14="http://schemas.microsoft.com/office/powerpoint/2010/main" val="104858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8343-1D81-93FA-9627-4B450BCD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1325563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Appendix -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8C04B-5744-7529-2ABF-69C046E92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343" y="1523510"/>
            <a:ext cx="3298956" cy="823305"/>
          </a:xfr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Source: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FCBDA-3BCB-C74E-17F1-6CD68FB9557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78387" y="2448988"/>
            <a:ext cx="3674868" cy="925270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en-US" sz="2400" dirty="0"/>
              <a:t>SaaS Business Metrics  Customers, Plans, and Revenue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 Kaggle</a:t>
            </a:r>
          </a:p>
          <a:p>
            <a:pPr marL="342900" indent="-342900" algn="l">
              <a:buFontTx/>
              <a:buChar char="-"/>
            </a:pPr>
            <a:r>
              <a:rPr lang="en-US" sz="2400"/>
              <a:t>1,000 records</a:t>
            </a:r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BC46F-2B8B-F4C3-99BD-63B5D8710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1396" y="1451826"/>
            <a:ext cx="3298558" cy="823304"/>
          </a:xfr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DA0E88-F71D-9037-EF8E-FCDF523140A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396" y="2448989"/>
            <a:ext cx="3299821" cy="2879576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sz="2400" dirty="0"/>
              <a:t>SQL (</a:t>
            </a:r>
            <a:r>
              <a:rPr lang="en-US" sz="2400" dirty="0" err="1"/>
              <a:t>SQLiteOnline</a:t>
            </a:r>
            <a:r>
              <a:rPr lang="en-US" sz="2400" dirty="0"/>
              <a:t>)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Excel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Tableau Public</a:t>
            </a:r>
          </a:p>
          <a:p>
            <a:pPr marL="342900" indent="-342900" algn="l">
              <a:buFontTx/>
              <a:buChar char="-"/>
            </a:pPr>
            <a:r>
              <a:rPr lang="en-US" sz="2400" dirty="0"/>
              <a:t>PowerPoint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F41301-3798-7E7D-DD1E-434EBFB75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06948" y="1451826"/>
            <a:ext cx="3291211" cy="823304"/>
          </a:xfr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Alterations: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2F0BF1-B2B3-2FDF-CE65-F7C6731245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739954" y="2346815"/>
            <a:ext cx="4452046" cy="4160315"/>
          </a:xfrm>
        </p:spPr>
        <p:txBody>
          <a:bodyPr>
            <a:normAutofit fontScale="32500" lnSpcReduction="20000"/>
          </a:bodyPr>
          <a:lstStyle/>
          <a:p>
            <a:pPr marL="285750" indent="-285750" algn="l">
              <a:buFontTx/>
              <a:buChar char="-"/>
            </a:pPr>
            <a:r>
              <a:rPr lang="en-US" sz="7400" dirty="0"/>
              <a:t>Columns removed: Amount (duplicate of </a:t>
            </a:r>
            <a:r>
              <a:rPr lang="en-US" sz="7400" dirty="0" err="1"/>
              <a:t>monthly_fee</a:t>
            </a:r>
            <a:r>
              <a:rPr lang="en-US" sz="7400" dirty="0"/>
              <a:t>), Subscription sheet (no new information).</a:t>
            </a:r>
          </a:p>
          <a:p>
            <a:pPr marL="285750" indent="-285750" algn="l">
              <a:buFontTx/>
              <a:buChar char="-"/>
            </a:pPr>
            <a:r>
              <a:rPr lang="en-US" sz="7400" dirty="0"/>
              <a:t>Joined files: Customers and Revenue using XLOOKUP on </a:t>
            </a:r>
            <a:r>
              <a:rPr lang="en-US" sz="7400" dirty="0" err="1"/>
              <a:t>customer_id</a:t>
            </a:r>
            <a:r>
              <a:rPr lang="en-US" sz="7400" dirty="0"/>
              <a:t>.</a:t>
            </a:r>
          </a:p>
          <a:p>
            <a:pPr marL="285750" indent="-285750" algn="l">
              <a:buFontTx/>
              <a:buChar char="-"/>
            </a:pPr>
            <a:r>
              <a:rPr lang="en-US" sz="7400" dirty="0"/>
              <a:t>Calculated active customer tenure as of 06/30/2025 to avoid data staleness.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DA901-BC36-122A-BB2B-24BE37DD222D}"/>
              </a:ext>
            </a:extLst>
          </p:cNvPr>
          <p:cNvSpPr txBox="1"/>
          <p:nvPr/>
        </p:nvSpPr>
        <p:spPr>
          <a:xfrm>
            <a:off x="4106029" y="1043161"/>
            <a:ext cx="396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SQL queries available on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hlinkClick r:id="rId2"/>
              </a:rPr>
              <a:t>Github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628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340</TotalTime>
  <Words>358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Saas customer Churn Analysis</vt:lpstr>
      <vt:lpstr>The Situation</vt:lpstr>
      <vt:lpstr>What We Found</vt:lpstr>
      <vt:lpstr>The Evidence</vt:lpstr>
      <vt:lpstr>What This Means</vt:lpstr>
      <vt:lpstr>Recommendations</vt:lpstr>
      <vt:lpstr>Appendix - 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customer Churn Analysis</dc:title>
  <dc:creator>Public</dc:creator>
  <cp:lastModifiedBy>Public</cp:lastModifiedBy>
  <cp:revision>8</cp:revision>
  <dcterms:created xsi:type="dcterms:W3CDTF">2026-03-28T20:26:22Z</dcterms:created>
  <dcterms:modified xsi:type="dcterms:W3CDTF">2026-04-06T17:49:17Z</dcterms:modified>
</cp:coreProperties>
</file>